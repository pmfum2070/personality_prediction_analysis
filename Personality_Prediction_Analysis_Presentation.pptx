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4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80" y="2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D5CAD-CB93-48BD-80D4-D88ABA17A390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C573B-D180-4C95-AACE-809CDE8B0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6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EC573B-D180-4C95-AACE-809CDE8B0F8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89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71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134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2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0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393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162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94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44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61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17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472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8530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274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68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0760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16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849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341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  <p:sldLayoutId id="214748374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944881"/>
            <a:ext cx="6620968" cy="3466742"/>
          </a:xfrm>
        </p:spPr>
        <p:txBody>
          <a:bodyPr/>
          <a:lstStyle/>
          <a:p>
            <a:r>
              <a:rPr dirty="0" smtClean="0"/>
              <a:t>P</a:t>
            </a:r>
            <a:r>
              <a:rPr lang="en-US" dirty="0" smtClean="0"/>
              <a:t>ERSONALITY</a:t>
            </a:r>
            <a:r>
              <a:rPr dirty="0" smtClean="0"/>
              <a:t> P</a:t>
            </a:r>
            <a:r>
              <a:rPr lang="en-US" dirty="0" smtClean="0"/>
              <a:t>REDICTION </a:t>
            </a:r>
            <a:r>
              <a:rPr dirty="0" smtClean="0"/>
              <a:t> A</a:t>
            </a:r>
            <a:r>
              <a:rPr lang="en-US" dirty="0" smtClean="0"/>
              <a:t>NALYSIS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411623"/>
            <a:ext cx="7830518" cy="2100937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Supervised Machine Learning </a:t>
            </a:r>
            <a:r>
              <a:rPr dirty="0" smtClean="0"/>
              <a:t>Approach</a:t>
            </a:r>
            <a:endParaRPr lang="en-US" dirty="0" smtClean="0"/>
          </a:p>
          <a:p>
            <a:r>
              <a:rPr lang="en-US" dirty="0" smtClean="0"/>
              <a:t>Name: PAPA YAW MFUM </a:t>
            </a:r>
            <a:endParaRPr lang="en-US" dirty="0" smtClean="0"/>
          </a:p>
          <a:p>
            <a:r>
              <a:rPr lang="en-US" dirty="0" smtClean="0"/>
              <a:t>INDEX NO. : PG57522824</a:t>
            </a:r>
            <a:endParaRPr lang="en-US" dirty="0" smtClean="0"/>
          </a:p>
          <a:p>
            <a:r>
              <a:rPr lang="en-US" dirty="0" smtClean="0"/>
              <a:t>STUDENT ID: 21171310</a:t>
            </a:r>
          </a:p>
          <a:p>
            <a:r>
              <a:rPr dirty="0" smtClean="0"/>
              <a:t>Course</a:t>
            </a:r>
            <a:r>
              <a:rPr dirty="0"/>
              <a:t>: Predictive &amp; Prescriptive Analytics (BDA 554)</a:t>
            </a:r>
          </a:p>
          <a:p>
            <a:r>
              <a:rPr dirty="0"/>
              <a:t>KNUST - July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1270001"/>
            <a:ext cx="8778240" cy="5415280"/>
          </a:xfrm>
        </p:spPr>
        <p:txBody>
          <a:bodyPr>
            <a:normAutofit/>
          </a:bodyPr>
          <a:lstStyle/>
          <a:p>
            <a:r>
              <a:rPr b="1" dirty="0"/>
              <a:t>Problem Statement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lang="en-US" dirty="0"/>
              <a:t>Predict personality types (Introvert vs Extrovert) using behavioral and social interaction </a:t>
            </a:r>
            <a:r>
              <a:rPr lang="en-US" dirty="0" smtClean="0"/>
              <a:t>patterns.</a:t>
            </a:r>
            <a:endParaRPr dirty="0"/>
          </a:p>
          <a:p>
            <a:r>
              <a:rPr dirty="0"/>
              <a:t>- </a:t>
            </a:r>
            <a:r>
              <a:rPr lang="en-US" dirty="0"/>
              <a:t>Identify key lifestyle indicators that differentiate personality </a:t>
            </a:r>
            <a:r>
              <a:rPr lang="en-US" dirty="0" smtClean="0"/>
              <a:t>types</a:t>
            </a:r>
            <a:endParaRPr dirty="0"/>
          </a:p>
          <a:p>
            <a:r>
              <a:rPr dirty="0"/>
              <a:t>- </a:t>
            </a:r>
            <a:r>
              <a:rPr lang="en-US" dirty="0"/>
              <a:t>Create a robust classification system for personality </a:t>
            </a:r>
            <a:r>
              <a:rPr lang="en-US" dirty="0" smtClean="0"/>
              <a:t>assessment</a:t>
            </a:r>
            <a:endParaRPr dirty="0"/>
          </a:p>
          <a:p>
            <a:r>
              <a:rPr dirty="0" smtClean="0"/>
              <a:t>-</a:t>
            </a:r>
            <a:r>
              <a:rPr lang="en-US" dirty="0"/>
              <a:t>Analyze correlations between social behaviors and personality </a:t>
            </a:r>
            <a:r>
              <a:rPr lang="en-US" dirty="0" smtClean="0"/>
              <a:t>traits</a:t>
            </a:r>
            <a:endParaRPr dirty="0"/>
          </a:p>
          <a:p>
            <a:r>
              <a:rPr b="1" dirty="0"/>
              <a:t>Business Value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lang="en-US" b="1" dirty="0"/>
              <a:t>Psychology:</a:t>
            </a:r>
            <a:r>
              <a:rPr lang="en-US" dirty="0"/>
              <a:t> Behavioral profiling and personality research</a:t>
            </a:r>
          </a:p>
          <a:p>
            <a:r>
              <a:rPr dirty="0" smtClean="0"/>
              <a:t>- </a:t>
            </a:r>
            <a:r>
              <a:rPr lang="en-US" b="1" dirty="0"/>
              <a:t>HR &amp; Recruitment:</a:t>
            </a:r>
            <a:r>
              <a:rPr lang="en-US" dirty="0"/>
              <a:t> Candidate assessment and team </a:t>
            </a:r>
            <a:r>
              <a:rPr lang="en-US" dirty="0" smtClean="0"/>
              <a:t>composition</a:t>
            </a:r>
            <a:endParaRPr dirty="0"/>
          </a:p>
          <a:p>
            <a:r>
              <a:rPr dirty="0"/>
              <a:t>- </a:t>
            </a:r>
            <a:r>
              <a:rPr lang="en-US" b="1" dirty="0"/>
              <a:t>Marketing:</a:t>
            </a:r>
            <a:r>
              <a:rPr lang="en-US" dirty="0"/>
              <a:t> Targeted campaigns based on personality insights</a:t>
            </a:r>
          </a:p>
          <a:p>
            <a:r>
              <a:rPr dirty="0" smtClean="0"/>
              <a:t>- </a:t>
            </a:r>
            <a:r>
              <a:rPr lang="en-US" b="1" dirty="0"/>
              <a:t>Education:</a:t>
            </a:r>
            <a:r>
              <a:rPr lang="en-US" dirty="0"/>
              <a:t> Personalized learning approaches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4960" y="1259840"/>
            <a:ext cx="8524240" cy="5283199"/>
          </a:xfrm>
        </p:spPr>
        <p:txBody>
          <a:bodyPr>
            <a:normAutofit lnSpcReduction="10000"/>
          </a:bodyPr>
          <a:lstStyle/>
          <a:p>
            <a:r>
              <a:rPr b="1" dirty="0"/>
              <a:t>Dataset Overview</a:t>
            </a:r>
            <a:r>
              <a:rPr dirty="0"/>
              <a:t>:</a:t>
            </a:r>
          </a:p>
          <a:p>
            <a:r>
              <a:rPr lang="en-US" b="1" dirty="0" smtClean="0"/>
              <a:t>Primary </a:t>
            </a:r>
            <a:r>
              <a:rPr lang="en-US" b="1" dirty="0"/>
              <a:t>Dataset:</a:t>
            </a:r>
            <a:r>
              <a:rPr lang="en-US" dirty="0"/>
              <a:t> Extrovert vs. Introvert Personality Traits (2,900 rows</a:t>
            </a:r>
            <a:r>
              <a:rPr lang="en-US" dirty="0" smtClean="0"/>
              <a:t>)</a:t>
            </a:r>
            <a:endParaRPr dirty="0"/>
          </a:p>
          <a:p>
            <a:r>
              <a:rPr lang="en-US" b="1" dirty="0" smtClean="0"/>
              <a:t>Secondary </a:t>
            </a:r>
            <a:r>
              <a:rPr lang="en-US" b="1" dirty="0"/>
              <a:t>Dataset:</a:t>
            </a:r>
            <a:r>
              <a:rPr lang="en-US" dirty="0"/>
              <a:t> 2018-personality-data.csv (Big Five traits)</a:t>
            </a:r>
          </a:p>
          <a:p>
            <a:r>
              <a:rPr lang="en-US" b="1" dirty="0"/>
              <a:t>Final Merged Dataset:</a:t>
            </a:r>
            <a:r>
              <a:rPr lang="en-US" dirty="0"/>
              <a:t> 1,834 observations with 8 core features</a:t>
            </a:r>
          </a:p>
          <a:p>
            <a:r>
              <a:rPr lang="en-US" b="1" dirty="0"/>
              <a:t>Data Quality:</a:t>
            </a:r>
            <a:r>
              <a:rPr lang="en-US" dirty="0"/>
              <a:t> Balanced classes, some missing values for preprocessing </a:t>
            </a:r>
            <a:r>
              <a:rPr lang="en-US" dirty="0" smtClean="0"/>
              <a:t>practice</a:t>
            </a:r>
            <a:endParaRPr dirty="0"/>
          </a:p>
          <a:p>
            <a:endParaRPr dirty="0"/>
          </a:p>
          <a:p>
            <a:r>
              <a:rPr b="1" dirty="0"/>
              <a:t>Feature Categories</a:t>
            </a:r>
            <a:r>
              <a:rPr dirty="0"/>
              <a:t>:</a:t>
            </a:r>
          </a:p>
          <a:p>
            <a:r>
              <a:rPr lang="en-US" b="1" dirty="0" smtClean="0"/>
              <a:t>Social </a:t>
            </a:r>
            <a:r>
              <a:rPr lang="en-US" b="1" dirty="0"/>
              <a:t>Behavior:</a:t>
            </a:r>
            <a:r>
              <a:rPr lang="en-US" dirty="0"/>
              <a:t> Time alone (0-11 </a:t>
            </a:r>
            <a:r>
              <a:rPr lang="en-US" dirty="0" err="1"/>
              <a:t>hrs</a:t>
            </a:r>
            <a:r>
              <a:rPr lang="en-US" dirty="0"/>
              <a:t>), social events (0-10/month</a:t>
            </a:r>
            <a:r>
              <a:rPr lang="en-US" dirty="0" smtClean="0"/>
              <a:t>)</a:t>
            </a:r>
            <a:endParaRPr dirty="0"/>
          </a:p>
          <a:p>
            <a:r>
              <a:rPr lang="en-US" b="1" dirty="0" smtClean="0"/>
              <a:t>Personal </a:t>
            </a:r>
            <a:r>
              <a:rPr lang="en-US" b="1" dirty="0"/>
              <a:t>Traits:</a:t>
            </a:r>
            <a:r>
              <a:rPr lang="en-US" dirty="0"/>
              <a:t> Stage fear, drained after socializing (Yes/No</a:t>
            </a:r>
            <a:r>
              <a:rPr lang="en-US" dirty="0" smtClean="0"/>
              <a:t>)</a:t>
            </a:r>
            <a:endParaRPr dirty="0"/>
          </a:p>
          <a:p>
            <a:r>
              <a:rPr lang="en-US" b="1" dirty="0" smtClean="0"/>
              <a:t>Activity </a:t>
            </a:r>
            <a:r>
              <a:rPr lang="en-US" b="1" dirty="0"/>
              <a:t>Patterns:</a:t>
            </a:r>
            <a:r>
              <a:rPr lang="en-US" dirty="0"/>
              <a:t> Going outside (0-7 days/week), post frequency (0-10/month</a:t>
            </a:r>
            <a:r>
              <a:rPr lang="en-US" dirty="0" smtClean="0"/>
              <a:t>)</a:t>
            </a:r>
            <a:endParaRPr dirty="0"/>
          </a:p>
          <a:p>
            <a:r>
              <a:rPr lang="en-US" b="1" dirty="0" smtClean="0"/>
              <a:t>Social </a:t>
            </a:r>
            <a:r>
              <a:rPr lang="en-US" b="1" dirty="0"/>
              <a:t>Network:</a:t>
            </a:r>
            <a:r>
              <a:rPr lang="en-US" dirty="0"/>
              <a:t> Friends circle size (0-15 close friends)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" y="1188720"/>
            <a:ext cx="8798560" cy="550672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1. </a:t>
            </a:r>
            <a:r>
              <a:rPr b="1" dirty="0"/>
              <a:t>Integration &amp; Cleaning</a:t>
            </a:r>
            <a:r>
              <a:rPr dirty="0"/>
              <a:t>:</a:t>
            </a:r>
          </a:p>
          <a:p>
            <a:r>
              <a:rPr dirty="0" smtClean="0"/>
              <a:t> </a:t>
            </a:r>
            <a:r>
              <a:rPr dirty="0"/>
              <a:t>Merged datasets, cleaned to 1,834 rows</a:t>
            </a:r>
          </a:p>
          <a:p>
            <a:endParaRPr dirty="0"/>
          </a:p>
          <a:p>
            <a:r>
              <a:rPr dirty="0"/>
              <a:t>2. </a:t>
            </a:r>
            <a:r>
              <a:rPr b="1" dirty="0"/>
              <a:t>Preprocessing</a:t>
            </a:r>
            <a:r>
              <a:rPr dirty="0"/>
              <a:t>:</a:t>
            </a:r>
          </a:p>
          <a:p>
            <a:r>
              <a:rPr lang="en-US" b="1" dirty="0" smtClean="0"/>
              <a:t>Missing </a:t>
            </a:r>
            <a:r>
              <a:rPr lang="en-US" b="1" dirty="0"/>
              <a:t>Value Treatment:</a:t>
            </a:r>
            <a:r>
              <a:rPr lang="en-US" dirty="0"/>
              <a:t> Handled missing values in </a:t>
            </a:r>
            <a:r>
              <a:rPr lang="en-US" dirty="0" err="1"/>
              <a:t>Time_spent_Alone</a:t>
            </a:r>
            <a:r>
              <a:rPr lang="en-US" dirty="0"/>
              <a:t> and </a:t>
            </a:r>
            <a:r>
              <a:rPr lang="en-US" dirty="0" err="1"/>
              <a:t>Going_outside</a:t>
            </a:r>
            <a:endParaRPr lang="en-US" dirty="0"/>
          </a:p>
          <a:p>
            <a:r>
              <a:rPr lang="en-US" b="1" dirty="0"/>
              <a:t>Data Type Conversion:</a:t>
            </a:r>
            <a:r>
              <a:rPr lang="en-US" dirty="0"/>
              <a:t> Converted decimal Big Five scores to integers</a:t>
            </a:r>
          </a:p>
          <a:p>
            <a:r>
              <a:rPr lang="en-US" b="1" dirty="0"/>
              <a:t>Binary Encoding:</a:t>
            </a:r>
            <a:r>
              <a:rPr lang="en-US" dirty="0"/>
              <a:t> Transformed Yes/No variables (</a:t>
            </a:r>
            <a:r>
              <a:rPr lang="en-US" dirty="0" err="1"/>
              <a:t>Stage_fear</a:t>
            </a:r>
            <a:r>
              <a:rPr lang="en-US" dirty="0"/>
              <a:t>, </a:t>
            </a:r>
            <a:r>
              <a:rPr lang="en-US" dirty="0" err="1"/>
              <a:t>Drained_after_socializing</a:t>
            </a:r>
            <a:r>
              <a:rPr lang="en-US" dirty="0"/>
              <a:t>)</a:t>
            </a:r>
          </a:p>
          <a:p>
            <a:r>
              <a:rPr lang="en-US" b="1" dirty="0"/>
              <a:t>Normalization:</a:t>
            </a:r>
            <a:r>
              <a:rPr lang="en-US" dirty="0"/>
              <a:t> Applied scaling for K-NN algorithm</a:t>
            </a:r>
          </a:p>
          <a:p>
            <a:endParaRPr dirty="0"/>
          </a:p>
          <a:p>
            <a:r>
              <a:rPr dirty="0"/>
              <a:t>3. </a:t>
            </a:r>
            <a:r>
              <a:rPr b="1" dirty="0"/>
              <a:t>Partitioning</a:t>
            </a:r>
            <a:r>
              <a:rPr dirty="0"/>
              <a:t>:</a:t>
            </a:r>
          </a:p>
          <a:p>
            <a:r>
              <a:rPr lang="en-US" b="1" dirty="0" smtClean="0"/>
              <a:t>Logistic </a:t>
            </a:r>
            <a:r>
              <a:rPr lang="en-US" b="1" dirty="0"/>
              <a:t>Regression &amp; Decision Trees:</a:t>
            </a:r>
            <a:r>
              <a:rPr lang="en-US" dirty="0"/>
              <a:t> 70% training, 30% testing</a:t>
            </a:r>
          </a:p>
          <a:p>
            <a:r>
              <a:rPr lang="en-US" b="1" dirty="0"/>
              <a:t>K-Nearest Neighbors:</a:t>
            </a:r>
            <a:r>
              <a:rPr lang="en-US" dirty="0"/>
              <a:t> 75% training, 25% </a:t>
            </a:r>
            <a:r>
              <a:rPr lang="en-US" dirty="0" smtClean="0"/>
              <a:t>testing</a:t>
            </a:r>
          </a:p>
          <a:p>
            <a:r>
              <a:rPr lang="en-US" b="1" dirty="0"/>
              <a:t>Stratified Sampling:</a:t>
            </a:r>
            <a:r>
              <a:rPr lang="en-US" dirty="0"/>
              <a:t> Maintained balanced class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" y="1259840"/>
            <a:ext cx="8950960" cy="552704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Logistic Regression</a:t>
            </a:r>
          </a:p>
          <a:p>
            <a:r>
              <a:rPr lang="en-US" b="1" dirty="0"/>
              <a:t>Strengths:</a:t>
            </a:r>
            <a:r>
              <a:rPr lang="en-US" dirty="0"/>
              <a:t> Interpretable, probabilistic output</a:t>
            </a:r>
          </a:p>
          <a:p>
            <a:r>
              <a:rPr lang="en-US" b="1" dirty="0"/>
              <a:t>Use Case:</a:t>
            </a:r>
            <a:r>
              <a:rPr lang="en-US" dirty="0"/>
              <a:t> Understanding feature </a:t>
            </a:r>
            <a:r>
              <a:rPr lang="en-US" dirty="0" smtClean="0"/>
              <a:t>importance</a:t>
            </a:r>
          </a:p>
          <a:p>
            <a:endParaRPr dirty="0"/>
          </a:p>
          <a:p>
            <a:r>
              <a:rPr lang="en-US" b="1" dirty="0"/>
              <a:t>Decision Trees</a:t>
            </a:r>
          </a:p>
          <a:p>
            <a:r>
              <a:rPr lang="en-US" b="1" dirty="0"/>
              <a:t>Strengths:</a:t>
            </a:r>
            <a:r>
              <a:rPr lang="en-US" dirty="0"/>
              <a:t> Non-linear relationships, easy visualization</a:t>
            </a:r>
          </a:p>
          <a:p>
            <a:r>
              <a:rPr lang="en-US" b="1" dirty="0"/>
              <a:t>Use Case:</a:t>
            </a:r>
            <a:r>
              <a:rPr lang="en-US" dirty="0"/>
              <a:t> Rule-based classification</a:t>
            </a:r>
          </a:p>
          <a:p>
            <a:endParaRPr dirty="0"/>
          </a:p>
          <a:p>
            <a:r>
              <a:rPr lang="en-US" b="1" dirty="0"/>
              <a:t>K-Nearest Neighbors</a:t>
            </a:r>
          </a:p>
          <a:p>
            <a:r>
              <a:rPr lang="en-US" b="1" dirty="0"/>
              <a:t>Strengths:</a:t>
            </a:r>
            <a:r>
              <a:rPr lang="en-US" dirty="0"/>
              <a:t> Non-parametric, local patterns</a:t>
            </a:r>
          </a:p>
          <a:p>
            <a:r>
              <a:rPr lang="en-US" b="1" dirty="0"/>
              <a:t>Use Case:</a:t>
            </a:r>
            <a:r>
              <a:rPr lang="en-US" dirty="0"/>
              <a:t> Instance-based learning</a:t>
            </a:r>
          </a:p>
          <a:p>
            <a:endParaRPr dirty="0"/>
          </a:p>
          <a:p>
            <a:r>
              <a:rPr lang="en-US" b="1" dirty="0"/>
              <a:t>Model Implementation Strategy</a:t>
            </a:r>
          </a:p>
          <a:p>
            <a:r>
              <a:rPr lang="en-US" dirty="0"/>
              <a:t>Used </a:t>
            </a:r>
            <a:r>
              <a:rPr lang="en-US" dirty="0" err="1"/>
              <a:t>tidymodels</a:t>
            </a:r>
            <a:r>
              <a:rPr lang="en-US" dirty="0"/>
              <a:t> framework for consistent workflow</a:t>
            </a:r>
          </a:p>
          <a:p>
            <a:r>
              <a:rPr lang="en-US" dirty="0"/>
              <a:t>Applied proper data preprocessing for each algorithm</a:t>
            </a:r>
          </a:p>
          <a:p>
            <a:r>
              <a:rPr lang="en-US" dirty="0"/>
              <a:t>Implemented </a:t>
            </a:r>
            <a:r>
              <a:rPr lang="en-US" dirty="0" err="1"/>
              <a:t>hyperparameter</a:t>
            </a:r>
            <a:r>
              <a:rPr lang="en-US" dirty="0"/>
              <a:t> tuning (especially for KNN)</a:t>
            </a:r>
          </a:p>
          <a:p>
            <a:r>
              <a:rPr lang="en-US" dirty="0"/>
              <a:t>Evaluated using multiple metrics for comprehensive </a:t>
            </a:r>
            <a:r>
              <a:rPr lang="en-US" dirty="0" smtClean="0"/>
              <a:t>assessment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440" y="3933079"/>
            <a:ext cx="3281680" cy="155448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440" y="2070736"/>
            <a:ext cx="3281680" cy="14995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Model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2052925"/>
            <a:ext cx="8554720" cy="4581555"/>
          </a:xfrm>
        </p:spPr>
        <p:txBody>
          <a:bodyPr/>
          <a:lstStyle/>
          <a:p>
            <a:r>
              <a:rPr dirty="0"/>
              <a:t>Logistic Regression: </a:t>
            </a:r>
            <a:r>
              <a:rPr dirty="0" smtClean="0"/>
              <a:t>~</a:t>
            </a:r>
            <a:r>
              <a:rPr lang="en-US" dirty="0" smtClean="0"/>
              <a:t>95</a:t>
            </a:r>
            <a:r>
              <a:rPr dirty="0" smtClean="0"/>
              <a:t>% </a:t>
            </a:r>
            <a:r>
              <a:rPr dirty="0"/>
              <a:t>Accuracy</a:t>
            </a:r>
          </a:p>
          <a:p>
            <a:r>
              <a:rPr dirty="0"/>
              <a:t>Decision Trees: </a:t>
            </a:r>
            <a:r>
              <a:rPr dirty="0" smtClean="0"/>
              <a:t>~</a:t>
            </a:r>
            <a:r>
              <a:rPr lang="en-US" dirty="0" smtClean="0"/>
              <a:t>95</a:t>
            </a:r>
            <a:r>
              <a:rPr dirty="0" smtClean="0"/>
              <a:t>% </a:t>
            </a:r>
            <a:r>
              <a:rPr dirty="0"/>
              <a:t>Accuracy</a:t>
            </a:r>
          </a:p>
          <a:p>
            <a:r>
              <a:rPr dirty="0"/>
              <a:t>K-Nearest Neighbors: </a:t>
            </a:r>
            <a:r>
              <a:rPr dirty="0" smtClean="0"/>
              <a:t>~</a:t>
            </a:r>
            <a:r>
              <a:rPr lang="en-US" dirty="0" smtClean="0"/>
              <a:t>8</a:t>
            </a:r>
            <a:r>
              <a:rPr dirty="0" smtClean="0"/>
              <a:t>8</a:t>
            </a:r>
            <a:r>
              <a:rPr dirty="0"/>
              <a:t>% Accuracy</a:t>
            </a:r>
          </a:p>
          <a:p>
            <a:endParaRPr dirty="0"/>
          </a:p>
          <a:p>
            <a:r>
              <a:rPr dirty="0"/>
              <a:t>AUC &gt; 0.75 for all models</a:t>
            </a:r>
          </a:p>
          <a:p>
            <a:r>
              <a:rPr dirty="0" smtClean="0"/>
              <a:t>Confusion </a:t>
            </a:r>
            <a:r>
              <a:rPr dirty="0"/>
              <a:t>matrices and ROC curves </a:t>
            </a:r>
            <a:r>
              <a:rPr dirty="0" smtClean="0"/>
              <a:t>evaluated</a:t>
            </a:r>
            <a:endParaRPr lang="en-US" dirty="0" smtClean="0"/>
          </a:p>
          <a:p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638358"/>
            <a:ext cx="2756637" cy="20774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535" y="4629594"/>
            <a:ext cx="3119121" cy="207640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576" y="4629594"/>
            <a:ext cx="2827065" cy="208616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8320" y="1685544"/>
            <a:ext cx="3281680" cy="2297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680" y="1249681"/>
            <a:ext cx="8575040" cy="5425440"/>
          </a:xfrm>
        </p:spPr>
        <p:txBody>
          <a:bodyPr>
            <a:normAutofit/>
          </a:bodyPr>
          <a:lstStyle/>
          <a:p>
            <a:r>
              <a:rPr lang="en-US" dirty="0"/>
              <a:t>Logistic Regression achieved highest accuracy</a:t>
            </a:r>
          </a:p>
          <a:p>
            <a:r>
              <a:rPr lang="en-US" dirty="0"/>
              <a:t>All models showed good discriminative power (AUC &gt; 0.75</a:t>
            </a:r>
            <a:r>
              <a:rPr lang="en-US" dirty="0" smtClean="0"/>
              <a:t>)</a:t>
            </a:r>
          </a:p>
          <a:p>
            <a:r>
              <a:rPr lang="en-US" dirty="0"/>
              <a:t>KNN performance improved with optimal k-value selection</a:t>
            </a:r>
          </a:p>
          <a:p>
            <a:r>
              <a:rPr b="1" dirty="0" smtClean="0"/>
              <a:t>Important </a:t>
            </a:r>
            <a:r>
              <a:rPr b="1" dirty="0"/>
              <a:t>Features:</a:t>
            </a:r>
          </a:p>
          <a:p>
            <a:r>
              <a:rPr lang="en-US" b="1" dirty="0" err="1" smtClean="0"/>
              <a:t>Time_spent_Alone</a:t>
            </a:r>
            <a:r>
              <a:rPr lang="en-US" b="1" dirty="0"/>
              <a:t>:</a:t>
            </a:r>
            <a:r>
              <a:rPr lang="en-US" dirty="0"/>
              <a:t> Primary differentiator (0-11 </a:t>
            </a:r>
            <a:r>
              <a:rPr lang="en-US" dirty="0" err="1"/>
              <a:t>hrs</a:t>
            </a:r>
            <a:r>
              <a:rPr lang="en-US" dirty="0"/>
              <a:t>/day)</a:t>
            </a:r>
          </a:p>
          <a:p>
            <a:r>
              <a:rPr lang="en-US" b="1" dirty="0" err="1" smtClean="0"/>
              <a:t>Social_event_attendance</a:t>
            </a:r>
            <a:r>
              <a:rPr lang="en-US" b="1" dirty="0"/>
              <a:t>:</a:t>
            </a:r>
            <a:r>
              <a:rPr lang="en-US" dirty="0"/>
              <a:t> Strong predictor (0-10 events/month)</a:t>
            </a:r>
          </a:p>
          <a:p>
            <a:r>
              <a:rPr lang="en-US" b="1" dirty="0" err="1"/>
              <a:t>Drained_after_socializing</a:t>
            </a:r>
            <a:r>
              <a:rPr lang="en-US" b="1" dirty="0"/>
              <a:t>:</a:t>
            </a:r>
            <a:r>
              <a:rPr lang="en-US" dirty="0"/>
              <a:t> Key behavioral indicator</a:t>
            </a:r>
          </a:p>
          <a:p>
            <a:r>
              <a:rPr lang="en-US" b="1" dirty="0" err="1"/>
              <a:t>Friends_circle_size</a:t>
            </a:r>
            <a:r>
              <a:rPr lang="en-US" b="1" dirty="0"/>
              <a:t>:</a:t>
            </a:r>
            <a:r>
              <a:rPr lang="en-US" dirty="0"/>
              <a:t> Social network impact (0-15 friends)</a:t>
            </a:r>
          </a:p>
          <a:p>
            <a:r>
              <a:rPr lang="en-US" b="1" dirty="0" err="1"/>
              <a:t>Post_frequency</a:t>
            </a:r>
            <a:r>
              <a:rPr lang="en-US" b="1" dirty="0"/>
              <a:t>:</a:t>
            </a:r>
            <a:r>
              <a:rPr lang="en-US" dirty="0"/>
              <a:t> Social media engagement </a:t>
            </a:r>
            <a:r>
              <a:rPr lang="en-US" dirty="0" smtClean="0"/>
              <a:t>patterns</a:t>
            </a:r>
            <a:endParaRPr dirty="0"/>
          </a:p>
          <a:p>
            <a:r>
              <a:rPr b="1" dirty="0"/>
              <a:t>Behavioral Analysis</a:t>
            </a:r>
            <a:r>
              <a:rPr dirty="0"/>
              <a:t>:</a:t>
            </a:r>
          </a:p>
          <a:p>
            <a:r>
              <a:rPr dirty="0" smtClean="0"/>
              <a:t>Introverts</a:t>
            </a:r>
            <a:r>
              <a:rPr dirty="0"/>
              <a:t>: more time alone, fewer events, smaller circles</a:t>
            </a:r>
          </a:p>
          <a:p>
            <a:r>
              <a:rPr dirty="0" smtClean="0"/>
              <a:t>Extroverts</a:t>
            </a:r>
            <a:r>
              <a:rPr dirty="0"/>
              <a:t>: more events, larger circles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680" y="1371601"/>
            <a:ext cx="8696960" cy="5280730"/>
          </a:xfrm>
        </p:spPr>
        <p:txBody>
          <a:bodyPr/>
          <a:lstStyle/>
          <a:p>
            <a:r>
              <a:rPr dirty="0"/>
              <a:t>Visualized decision rules using </a:t>
            </a:r>
            <a:r>
              <a:rPr dirty="0" err="1"/>
              <a:t>rpart.plot</a:t>
            </a:r>
            <a:endParaRPr dirty="0"/>
          </a:p>
          <a:p>
            <a:r>
              <a:rPr dirty="0"/>
              <a:t>Primary split on extraversion</a:t>
            </a:r>
          </a:p>
          <a:p>
            <a:r>
              <a:rPr dirty="0"/>
              <a:t>Secondary: social behavior</a:t>
            </a:r>
          </a:p>
          <a:p>
            <a:r>
              <a:rPr dirty="0"/>
              <a:t>Pruned tree for interpretability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426388"/>
            <a:ext cx="8148320" cy="33205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520" y="1137920"/>
            <a:ext cx="8788400" cy="5577839"/>
          </a:xfrm>
        </p:spPr>
        <p:txBody>
          <a:bodyPr>
            <a:normAutofit fontScale="77500" lnSpcReduction="20000"/>
          </a:bodyPr>
          <a:lstStyle/>
          <a:p>
            <a:r>
              <a:rPr b="1" dirty="0"/>
              <a:t>Model:</a:t>
            </a:r>
          </a:p>
          <a:p>
            <a:r>
              <a:rPr lang="en-US" dirty="0" smtClean="0"/>
              <a:t>Use</a:t>
            </a:r>
            <a:r>
              <a:rPr lang="en-US" dirty="0"/>
              <a:t> </a:t>
            </a:r>
            <a:r>
              <a:rPr lang="en-US" b="1" dirty="0"/>
              <a:t>Logistic Regression</a:t>
            </a:r>
            <a:r>
              <a:rPr lang="en-US" dirty="0"/>
              <a:t> for highest accuracy</a:t>
            </a:r>
          </a:p>
          <a:p>
            <a:r>
              <a:rPr lang="en-US" dirty="0" smtClean="0"/>
              <a:t>Deploy</a:t>
            </a:r>
            <a:r>
              <a:rPr lang="en-US" dirty="0"/>
              <a:t> </a:t>
            </a:r>
            <a:r>
              <a:rPr lang="en-US" b="1" dirty="0"/>
              <a:t>Decision Trees</a:t>
            </a:r>
            <a:r>
              <a:rPr lang="en-US" dirty="0"/>
              <a:t> for interpretable insights</a:t>
            </a:r>
          </a:p>
          <a:p>
            <a:r>
              <a:rPr lang="en-US" dirty="0"/>
              <a:t>Consider ensemble methods for improved performance</a:t>
            </a:r>
          </a:p>
          <a:p>
            <a:pPr marL="0" indent="0">
              <a:buNone/>
            </a:pPr>
            <a:endParaRPr dirty="0"/>
          </a:p>
          <a:p>
            <a:r>
              <a:rPr b="1" dirty="0"/>
              <a:t>Implementation:</a:t>
            </a:r>
          </a:p>
          <a:p>
            <a:r>
              <a:rPr lang="en-US" dirty="0" smtClean="0"/>
              <a:t>Focus </a:t>
            </a:r>
            <a:r>
              <a:rPr lang="en-US" dirty="0"/>
              <a:t>on key behavioral indicators for assessment</a:t>
            </a:r>
          </a:p>
          <a:p>
            <a:r>
              <a:rPr lang="en-US" dirty="0"/>
              <a:t>Implement real-time personality prediction system</a:t>
            </a:r>
          </a:p>
          <a:p>
            <a:r>
              <a:rPr lang="en-US" dirty="0"/>
              <a:t>Regular model retraining with new </a:t>
            </a:r>
            <a:r>
              <a:rPr lang="en-US" dirty="0" smtClean="0"/>
              <a:t>data</a:t>
            </a:r>
            <a:endParaRPr dirty="0"/>
          </a:p>
          <a:p>
            <a:endParaRPr dirty="0"/>
          </a:p>
          <a:p>
            <a:r>
              <a:rPr dirty="0"/>
              <a:t>Applications:</a:t>
            </a:r>
          </a:p>
          <a:p>
            <a:r>
              <a:rPr lang="en-US" b="1" dirty="0"/>
              <a:t>Psychology &amp; Research:</a:t>
            </a:r>
            <a:r>
              <a:rPr lang="en-US" dirty="0"/>
              <a:t> Behavioral profiling and personality assessment tools</a:t>
            </a:r>
          </a:p>
          <a:p>
            <a:r>
              <a:rPr lang="en-US" b="1" dirty="0"/>
              <a:t>HR &amp; Recruitment:</a:t>
            </a:r>
            <a:r>
              <a:rPr lang="en-US" dirty="0"/>
              <a:t> Candidate screening and team composition optimization</a:t>
            </a:r>
          </a:p>
          <a:p>
            <a:r>
              <a:rPr lang="en-US" b="1" dirty="0"/>
              <a:t>Education:</a:t>
            </a:r>
            <a:r>
              <a:rPr lang="en-US" dirty="0"/>
              <a:t> Personalized learning environments and study group formation</a:t>
            </a:r>
          </a:p>
          <a:p>
            <a:r>
              <a:rPr lang="en-US" b="1" dirty="0"/>
              <a:t>Marketing &amp; Social Media:</a:t>
            </a:r>
            <a:r>
              <a:rPr lang="en-US" dirty="0"/>
              <a:t> Targeted content and engagement strategies</a:t>
            </a:r>
          </a:p>
          <a:p>
            <a:r>
              <a:rPr lang="en-US" b="1" dirty="0"/>
              <a:t>Healthcare:</a:t>
            </a:r>
            <a:r>
              <a:rPr lang="en-US" dirty="0"/>
              <a:t> Therapy approach selection and mental health screening</a:t>
            </a:r>
          </a:p>
          <a:p>
            <a:r>
              <a:rPr lang="en-US" b="1" dirty="0"/>
              <a:t>Product Design:</a:t>
            </a:r>
            <a:r>
              <a:rPr lang="en-US" dirty="0"/>
              <a:t> User interface adaptation based on personality preferences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290321"/>
            <a:ext cx="8636000" cy="5415280"/>
          </a:xfrm>
        </p:spPr>
        <p:txBody>
          <a:bodyPr>
            <a:normAutofit/>
          </a:bodyPr>
          <a:lstStyle/>
          <a:p>
            <a:r>
              <a:rPr dirty="0"/>
              <a:t>Success:</a:t>
            </a:r>
          </a:p>
          <a:p>
            <a:r>
              <a:rPr lang="en-US" dirty="0"/>
              <a:t>Successfully merged two personality datasets</a:t>
            </a:r>
          </a:p>
          <a:p>
            <a:r>
              <a:rPr lang="en-US" dirty="0"/>
              <a:t>Achieved &gt;80% accuracy across multiple models</a:t>
            </a:r>
          </a:p>
          <a:p>
            <a:r>
              <a:rPr lang="en-US" dirty="0"/>
              <a:t>Identified key personality predictors</a:t>
            </a:r>
          </a:p>
          <a:p>
            <a:r>
              <a:rPr lang="en-US" dirty="0"/>
              <a:t>Provided actionable business insights</a:t>
            </a:r>
          </a:p>
          <a:p>
            <a:endParaRPr dirty="0"/>
          </a:p>
          <a:p>
            <a:r>
              <a:rPr dirty="0"/>
              <a:t>Next:</a:t>
            </a:r>
          </a:p>
          <a:p>
            <a:r>
              <a:rPr lang="en-US" dirty="0" smtClean="0"/>
              <a:t>Explore </a:t>
            </a:r>
            <a:r>
              <a:rPr lang="en-US" dirty="0"/>
              <a:t>ensemble methods (Random Forest, </a:t>
            </a:r>
            <a:r>
              <a:rPr lang="en-US" dirty="0" err="1"/>
              <a:t>XGBoost</a:t>
            </a:r>
            <a:r>
              <a:rPr lang="en-US" dirty="0"/>
              <a:t>)</a:t>
            </a:r>
          </a:p>
          <a:p>
            <a:r>
              <a:rPr lang="en-US" dirty="0"/>
              <a:t>Implement deep learning approaches</a:t>
            </a:r>
          </a:p>
          <a:p>
            <a:r>
              <a:rPr lang="en-US" dirty="0"/>
              <a:t>Collect more diverse personality data</a:t>
            </a:r>
          </a:p>
          <a:p>
            <a:r>
              <a:rPr lang="en-US" dirty="0"/>
              <a:t>Deploy model in production environment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168</TotalTime>
  <Words>729</Words>
  <Application>Microsoft Office PowerPoint</Application>
  <PresentationFormat>On-screen Show (4:3)</PresentationFormat>
  <Paragraphs>118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Gothic</vt:lpstr>
      <vt:lpstr>Wingdings 3</vt:lpstr>
      <vt:lpstr>Ion</vt:lpstr>
      <vt:lpstr>PERSONALITY PREDICTION  ANALYSIS</vt:lpstr>
      <vt:lpstr>Business Understanding</vt:lpstr>
      <vt:lpstr>Data Understanding</vt:lpstr>
      <vt:lpstr>Data Preparation</vt:lpstr>
      <vt:lpstr>Modeling Approach</vt:lpstr>
      <vt:lpstr>Model Performance Results</vt:lpstr>
      <vt:lpstr>Key Findings</vt:lpstr>
      <vt:lpstr>Decision Tree Insights</vt:lpstr>
      <vt:lpstr>Recommendations</vt:lpstr>
      <vt:lpstr>Conclusion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PERSONALITY PREDICTION  ANALYSIS</dc:title>
  <dc:subject/>
  <dc:creator/>
  <cp:keywords/>
  <dc:description>generated using python-pptx</dc:description>
  <cp:lastModifiedBy>HP</cp:lastModifiedBy>
  <cp:revision>13</cp:revision>
  <dcterms:created xsi:type="dcterms:W3CDTF">2013-01-27T09:14:16Z</dcterms:created>
  <dcterms:modified xsi:type="dcterms:W3CDTF">2025-07-30T17:30:41Z</dcterms:modified>
  <cp:category/>
</cp:coreProperties>
</file>